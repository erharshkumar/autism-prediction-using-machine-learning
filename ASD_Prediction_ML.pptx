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 Score</c:v>
                  </c:pt>
                  <c:pt idx="4">
                    <c:v>ROC-AUC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97</c:v>
                </c:pt>
                <c:pt idx="1">
                  <c:v>96</c:v>
                </c:pt>
                <c:pt idx="2">
                  <c:v>98</c:v>
                </c:pt>
                <c:pt idx="3">
                  <c:v>97</c:v>
                </c:pt>
                <c:pt idx="4">
                  <c:v>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FF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image" Target="../media/image-8-4.png"/><Relationship Id="rId6" Type="http://schemas.openxmlformats.org/officeDocument/2006/relationships/image" Target="../media/image-8-5.png"/><Relationship Id="rId7" Type="http://schemas.openxmlformats.org/officeDocument/2006/relationships/image" Target="../media/image-8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548640"/>
            <a:ext cx="1463040" cy="1463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22402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 DETECTION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137160" y="2651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Screening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3749040" y="640080"/>
            <a:ext cx="51206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Autism Spectrum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Disorder Prediction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3749040" y="23774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Machine Learning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3749040" y="3063240"/>
            <a:ext cx="50292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6"/>
          <p:cNvSpPr/>
          <p:nvPr/>
        </p:nvSpPr>
        <p:spPr>
          <a:xfrm>
            <a:off x="3749040" y="32004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Machine Learning Pipeline for Early ASD Screening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Clinical Decision Support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749040" y="4389120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028090">
              <a:alpha val="7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3749040" y="43891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001768" y="4389120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028090">
              <a:alpha val="7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5001768" y="43891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54496" y="4389120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028090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6254496" y="43891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507224" y="4389120"/>
            <a:ext cx="1143000" cy="320040"/>
          </a:xfrm>
          <a:prstGeom prst="roundRect">
            <a:avLst>
              <a:gd name="adj" fmla="val 20000"/>
            </a:avLst>
          </a:prstGeom>
          <a:solidFill>
            <a:srgbClr val="028090">
              <a:alpha val="70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7507224" y="438912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E8F8F7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960120"/>
            <a:ext cx="41148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9144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98755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97280" y="9326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548640" y="1508760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6"/>
          <p:cNvSpPr/>
          <p:nvPr/>
        </p:nvSpPr>
        <p:spPr>
          <a:xfrm>
            <a:off x="868680" y="1463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ASD affects communication, social interaction &amp; behavior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2194560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21488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diagnosis is time-consuming and requires specialists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880360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28346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delays reduce effectiveness of early intervention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3566160"/>
            <a:ext cx="201168" cy="20116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2"/>
          <p:cNvSpPr/>
          <p:nvPr/>
        </p:nvSpPr>
        <p:spPr>
          <a:xfrm>
            <a:off x="868680" y="3520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scalable, data-driven screening tools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0" y="868680"/>
            <a:ext cx="4206240" cy="3931920"/>
          </a:xfrm>
          <a:prstGeom prst="roundRect">
            <a:avLst>
              <a:gd name="adj" fmla="val 2791"/>
            </a:avLst>
          </a:prstGeom>
          <a:solidFill>
            <a:srgbClr val="F0FDFB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663440" y="9144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987552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03520" y="9326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Objectives</a:t>
            </a:r>
            <a:endParaRPr lang="en-US" sz="15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5087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074920" y="146304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early ASD screening accuracy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103120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074920" y="205740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diagnostic delays with automation</a:t>
            </a:r>
            <a:endParaRPr lang="en-US" sz="120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69748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074920" y="265176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class imbalance with SMOTE</a:t>
            </a:r>
            <a:endParaRPr lang="en-US" sz="12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291840"/>
            <a:ext cx="274320" cy="27432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074920" y="324612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ensemble stacking model</a:t>
            </a:r>
            <a:endParaRPr lang="en-US" sz="12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886200"/>
            <a:ext cx="274320" cy="27432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074920" y="38404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via Streamlit web application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60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246888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727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299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87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Ethnicity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9443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of Residence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27832" y="86868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3319272" y="960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Medical History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319272" y="1417320"/>
            <a:ext cx="246888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3410712" y="15727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Jaundice at Birth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10712" y="20299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of Autism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10712" y="2487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ASD Diagnosis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89904" y="868680"/>
            <a:ext cx="2651760" cy="3200400"/>
          </a:xfrm>
          <a:prstGeom prst="roundRect">
            <a:avLst>
              <a:gd name="adj" fmla="val 4138"/>
            </a:avLst>
          </a:prstGeom>
          <a:solidFill>
            <a:srgbClr val="0D6E7F"/>
          </a:solidFill>
          <a:ln/>
        </p:spPr>
      </p:sp>
      <p:sp>
        <p:nvSpPr>
          <p:cNvPr id="18" name="Text 16"/>
          <p:cNvSpPr/>
          <p:nvPr/>
        </p:nvSpPr>
        <p:spPr>
          <a:xfrm>
            <a:off x="6181344" y="96012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(AQ-10)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81344" y="1417320"/>
            <a:ext cx="2468880" cy="18288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72784" y="15727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Scores A1–A10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72784" y="20299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Screening Score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72784" y="24871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Category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272784" y="294436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6052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0A1931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1605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Target Variable:  Class Label — ASD  or  Non-ASD   (Binary Classification)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ML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6012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87452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 inspect dataset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828800" y="1627632"/>
            <a:ext cx="137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93392" y="91440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993392" y="96012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993392" y="141732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93392" y="187452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&amp; explore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547872" y="1627632"/>
            <a:ext cx="137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12464" y="91440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12464" y="96012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12464" y="141732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12464" y="187452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encode &amp; scale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266944" y="1627632"/>
            <a:ext cx="137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31536" y="91440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31536" y="96012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31536" y="141732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31536" y="187452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classes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86016" y="1627632"/>
            <a:ext cx="137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50608" y="91440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150608" y="96012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150608" y="141732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50608" y="187452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&amp; transform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92608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74320" y="29718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274320" y="34290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38862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DT, RF, XGBoost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828800" y="3639312"/>
            <a:ext cx="137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993392" y="292608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993392" y="29718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993392" y="34290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993392" y="38862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RandomSearch + Optuna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547872" y="3639312"/>
            <a:ext cx="137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12464" y="292608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712464" y="29718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3712464" y="34290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712464" y="38862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Stacking model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266944" y="3639312"/>
            <a:ext cx="137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431536" y="292608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431536" y="29718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5431536" y="34290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31536" y="38862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&amp; curves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986016" y="3639312"/>
            <a:ext cx="137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50608" y="2926080"/>
            <a:ext cx="1536192" cy="1463040"/>
          </a:xfrm>
          <a:prstGeom prst="roundRect">
            <a:avLst>
              <a:gd name="adj" fmla="val 625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76200" dist="25400" dir="2700000">
              <a:srgbClr val="000000">
                <a:alpha val="1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7150608" y="29718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7150608" y="34290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50608" y="3886200"/>
            <a:ext cx="15361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&amp; 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8F8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84048" y="1005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104241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0332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11480" y="15544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missing values with appropriate strategies per feature type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154680" y="8686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8F8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64408" y="1005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1042416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13048" y="10332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291840" y="15544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label &amp; one-hot encoding to all categorical variables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8686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8F8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44768" y="10058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0488" y="1042416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693408" y="10332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Scaling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72200" y="15544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normalize numerical features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274320" y="29260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8F8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84048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3099816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" y="30906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SMOTE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411480" y="3611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Minority Over-sampling to balance ASD vs Non-ASD classes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154680" y="29260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8F8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64408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3099816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13048" y="30906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291840" y="3611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most informative features using importance scores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035040" y="292608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E8F8F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44768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0488" y="3099816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693408" y="309067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Train-Test Split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172200" y="3611880"/>
            <a:ext cx="2423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 split preserving class distribution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Models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601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 Tree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11480" y="1536192"/>
            <a:ext cx="2331720" cy="1828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6642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6184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interpret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276856"/>
            <a:ext cx="256032" cy="25603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77240" y="22311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training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889504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77240" y="284378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108960" y="8686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028090"/>
          </a:solidFill>
          <a:ln/>
        </p:spPr>
      </p:sp>
      <p:sp>
        <p:nvSpPr>
          <p:cNvPr id="14" name="Text 9"/>
          <p:cNvSpPr/>
          <p:nvPr/>
        </p:nvSpPr>
        <p:spPr>
          <a:xfrm>
            <a:off x="3108960" y="9601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3246120" y="1536192"/>
            <a:ext cx="2331720" cy="1828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66420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3611880" y="16184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overfitting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3552" y="2276856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611880" y="22311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generalization</a:t>
            </a:r>
            <a:endParaRPr lang="en-US" sz="12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3552" y="2889504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611880" y="284378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robustness</a:t>
            </a:r>
            <a:endParaRPr lang="en-US" sz="1200" dirty="0"/>
          </a:p>
        </p:txBody>
      </p:sp>
      <p:sp>
        <p:nvSpPr>
          <p:cNvPr id="22" name="Shape 14"/>
          <p:cNvSpPr/>
          <p:nvPr/>
        </p:nvSpPr>
        <p:spPr>
          <a:xfrm>
            <a:off x="5943600" y="86868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00A896"/>
          </a:solidFill>
          <a:ln/>
        </p:spPr>
      </p:sp>
      <p:sp>
        <p:nvSpPr>
          <p:cNvPr id="23" name="Text 15"/>
          <p:cNvSpPr/>
          <p:nvPr/>
        </p:nvSpPr>
        <p:spPr>
          <a:xfrm>
            <a:off x="5943600" y="96012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6080760" y="1536192"/>
            <a:ext cx="2331720" cy="18288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8192" y="1664208"/>
            <a:ext cx="256032" cy="256032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446520" y="1618488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8192" y="2276856"/>
            <a:ext cx="256032" cy="256032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446520" y="2231136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performance</a:t>
            </a:r>
            <a:endParaRPr lang="en-US" sz="1200" dirty="0"/>
          </a:p>
        </p:txBody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08192" y="2889504"/>
            <a:ext cx="256032" cy="256032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6446520" y="284378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complexity</a:t>
            </a:r>
            <a:endParaRPr lang="en-US" sz="1200" dirty="0"/>
          </a:p>
        </p:txBody>
      </p:sp>
      <p:sp>
        <p:nvSpPr>
          <p:cNvPr id="31" name="Shape 20"/>
          <p:cNvSpPr/>
          <p:nvPr/>
        </p:nvSpPr>
        <p:spPr>
          <a:xfrm>
            <a:off x="274320" y="3913632"/>
            <a:ext cx="8595360" cy="9144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32" name="Text 21"/>
          <p:cNvSpPr/>
          <p:nvPr/>
        </p:nvSpPr>
        <p:spPr>
          <a:xfrm>
            <a:off x="365760" y="3913632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Final Model: Stacking Ensemble  —  Base Learners: DT + RF + XGBoost  |  Meta Learner: Logistic Regression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 &amp; Optimization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2377440"/>
          </a:xfrm>
          <a:prstGeom prst="roundRect">
            <a:avLst>
              <a:gd name="adj" fmla="val 4615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RandomizedSearchCV</a:t>
            </a:r>
            <a:endParaRPr lang="en-US" sz="15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72768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5270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samples hyperparameter space</a:t>
            </a:r>
            <a:endParaRPr lang="en-US" sz="12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29968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9842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exhaustive Grid Search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87168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68680" y="24414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Cross-validated evaluation</a:t>
            </a:r>
            <a:endParaRPr lang="en-US" sz="12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44368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68680" y="28986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large search spaces</a:t>
            </a:r>
            <a:endParaRPr lang="en-US" sz="1200" dirty="0"/>
          </a:p>
        </p:txBody>
      </p:sp>
      <p:sp>
        <p:nvSpPr>
          <p:cNvPr id="14" name="Shape 8"/>
          <p:cNvSpPr/>
          <p:nvPr/>
        </p:nvSpPr>
        <p:spPr>
          <a:xfrm>
            <a:off x="4800600" y="868680"/>
            <a:ext cx="4114800" cy="2377440"/>
          </a:xfrm>
          <a:prstGeom prst="roundRect">
            <a:avLst>
              <a:gd name="adj" fmla="val 4615"/>
            </a:avLst>
          </a:prstGeom>
          <a:solidFill>
            <a:srgbClr val="065A82"/>
          </a:solidFill>
          <a:ln/>
        </p:spPr>
      </p:sp>
      <p:sp>
        <p:nvSpPr>
          <p:cNvPr id="15" name="Text 9"/>
          <p:cNvSpPr/>
          <p:nvPr/>
        </p:nvSpPr>
        <p:spPr>
          <a:xfrm>
            <a:off x="4800600" y="9601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Optuna Framework</a:t>
            </a:r>
            <a:endParaRPr lang="en-US" sz="1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1572768"/>
            <a:ext cx="228600" cy="228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03520" y="15270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optimization approach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2029968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303520" y="19842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Prunes unpromising trials early</a:t>
            </a:r>
            <a:endParaRPr lang="en-US" sz="12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2487168"/>
            <a:ext cx="228600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303520" y="24414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sampling strategy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2944368"/>
            <a:ext cx="228600" cy="2286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303520" y="2898648"/>
            <a:ext cx="3429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efficiency</a:t>
            </a:r>
            <a:endParaRPr lang="en-US" sz="1200" dirty="0"/>
          </a:p>
        </p:txBody>
      </p:sp>
      <p:sp>
        <p:nvSpPr>
          <p:cNvPr id="24" name="Shape 14"/>
          <p:cNvSpPr/>
          <p:nvPr/>
        </p:nvSpPr>
        <p:spPr>
          <a:xfrm>
            <a:off x="365760" y="3383280"/>
            <a:ext cx="8412480" cy="1463040"/>
          </a:xfrm>
          <a:prstGeom prst="roundRect">
            <a:avLst>
              <a:gd name="adj" fmla="val 6250"/>
            </a:avLst>
          </a:prstGeom>
          <a:solidFill>
            <a:srgbClr val="E8F8F7"/>
          </a:solidFill>
          <a:ln/>
        </p:spPr>
      </p:sp>
      <p:sp>
        <p:nvSpPr>
          <p:cNvPr id="25" name="Text 15"/>
          <p:cNvSpPr/>
          <p:nvPr/>
        </p:nvSpPr>
        <p:spPr>
          <a:xfrm>
            <a:off x="548640" y="34564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Tuned</a:t>
            </a:r>
            <a:endParaRPr lang="en-US" sz="1300" dirty="0"/>
          </a:p>
        </p:txBody>
      </p:sp>
      <p:sp>
        <p:nvSpPr>
          <p:cNvPr id="26" name="Shape 16"/>
          <p:cNvSpPr/>
          <p:nvPr/>
        </p:nvSpPr>
        <p:spPr>
          <a:xfrm>
            <a:off x="502920" y="384048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028090">
              <a:alpha val="80000"/>
            </a:srgbClr>
          </a:solidFill>
          <a:ln/>
        </p:spPr>
      </p:sp>
      <p:sp>
        <p:nvSpPr>
          <p:cNvPr id="27" name="Text 17"/>
          <p:cNvSpPr/>
          <p:nvPr/>
        </p:nvSpPr>
        <p:spPr>
          <a:xfrm>
            <a:off x="502920" y="3840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</a:t>
            </a:r>
            <a:endParaRPr lang="en-US" sz="1050" dirty="0"/>
          </a:p>
        </p:txBody>
      </p:sp>
      <p:sp>
        <p:nvSpPr>
          <p:cNvPr id="28" name="Shape 18"/>
          <p:cNvSpPr/>
          <p:nvPr/>
        </p:nvSpPr>
        <p:spPr>
          <a:xfrm>
            <a:off x="2606040" y="384048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028090">
              <a:alpha val="80000"/>
            </a:srgbClr>
          </a:solidFill>
          <a:ln/>
        </p:spPr>
      </p:sp>
      <p:sp>
        <p:nvSpPr>
          <p:cNvPr id="29" name="Text 19"/>
          <p:cNvSpPr/>
          <p:nvPr/>
        </p:nvSpPr>
        <p:spPr>
          <a:xfrm>
            <a:off x="2606040" y="3840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</a:t>
            </a:r>
            <a:endParaRPr lang="en-US" sz="1050" dirty="0"/>
          </a:p>
        </p:txBody>
      </p:sp>
      <p:sp>
        <p:nvSpPr>
          <p:cNvPr id="30" name="Shape 20"/>
          <p:cNvSpPr/>
          <p:nvPr/>
        </p:nvSpPr>
        <p:spPr>
          <a:xfrm>
            <a:off x="4709160" y="384048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028090">
              <a:alpha val="80000"/>
            </a:srgbClr>
          </a:solidFill>
          <a:ln/>
        </p:spPr>
      </p:sp>
      <p:sp>
        <p:nvSpPr>
          <p:cNvPr id="31" name="Text 21"/>
          <p:cNvSpPr/>
          <p:nvPr/>
        </p:nvSpPr>
        <p:spPr>
          <a:xfrm>
            <a:off x="4709160" y="3840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learning_rate</a:t>
            </a:r>
            <a:endParaRPr lang="en-US" sz="1050" dirty="0"/>
          </a:p>
        </p:txBody>
      </p:sp>
      <p:sp>
        <p:nvSpPr>
          <p:cNvPr id="32" name="Shape 22"/>
          <p:cNvSpPr/>
          <p:nvPr/>
        </p:nvSpPr>
        <p:spPr>
          <a:xfrm>
            <a:off x="6812280" y="384048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028090">
              <a:alpha val="80000"/>
            </a:srgbClr>
          </a:solidFill>
          <a:ln/>
        </p:spPr>
      </p:sp>
      <p:sp>
        <p:nvSpPr>
          <p:cNvPr id="33" name="Text 23"/>
          <p:cNvSpPr/>
          <p:nvPr/>
        </p:nvSpPr>
        <p:spPr>
          <a:xfrm>
            <a:off x="6812280" y="384048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min_samples_split</a:t>
            </a:r>
            <a:endParaRPr lang="en-US" sz="1050" dirty="0"/>
          </a:p>
        </p:txBody>
      </p:sp>
      <p:sp>
        <p:nvSpPr>
          <p:cNvPr id="34" name="Shape 24"/>
          <p:cNvSpPr/>
          <p:nvPr/>
        </p:nvSpPr>
        <p:spPr>
          <a:xfrm>
            <a:off x="502920" y="434340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028090">
              <a:alpha val="80000"/>
            </a:srgbClr>
          </a:solidFill>
          <a:ln/>
        </p:spPr>
      </p:sp>
      <p:sp>
        <p:nvSpPr>
          <p:cNvPr id="35" name="Text 25"/>
          <p:cNvSpPr/>
          <p:nvPr/>
        </p:nvSpPr>
        <p:spPr>
          <a:xfrm>
            <a:off x="502920" y="4343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min_samples_leaf</a:t>
            </a:r>
            <a:endParaRPr lang="en-US" sz="1050" dirty="0"/>
          </a:p>
        </p:txBody>
      </p:sp>
      <p:sp>
        <p:nvSpPr>
          <p:cNvPr id="36" name="Shape 26"/>
          <p:cNvSpPr/>
          <p:nvPr/>
        </p:nvSpPr>
        <p:spPr>
          <a:xfrm>
            <a:off x="2606040" y="434340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028090">
              <a:alpha val="80000"/>
            </a:srgbClr>
          </a:solidFill>
          <a:ln/>
        </p:spPr>
      </p:sp>
      <p:sp>
        <p:nvSpPr>
          <p:cNvPr id="37" name="Text 27"/>
          <p:cNvSpPr/>
          <p:nvPr/>
        </p:nvSpPr>
        <p:spPr>
          <a:xfrm>
            <a:off x="2606040" y="4343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subsample</a:t>
            </a:r>
            <a:endParaRPr lang="en-US" sz="1050" dirty="0"/>
          </a:p>
        </p:txBody>
      </p:sp>
      <p:sp>
        <p:nvSpPr>
          <p:cNvPr id="38" name="Shape 28"/>
          <p:cNvSpPr/>
          <p:nvPr/>
        </p:nvSpPr>
        <p:spPr>
          <a:xfrm>
            <a:off x="4709160" y="434340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028090">
              <a:alpha val="80000"/>
            </a:srgbClr>
          </a:solidFill>
          <a:ln/>
        </p:spPr>
      </p:sp>
      <p:sp>
        <p:nvSpPr>
          <p:cNvPr id="39" name="Text 29"/>
          <p:cNvSpPr/>
          <p:nvPr/>
        </p:nvSpPr>
        <p:spPr>
          <a:xfrm>
            <a:off x="4709160" y="43434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colsample_bytree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Evaluation &amp; Performance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22960"/>
          <a:ext cx="502920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82296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E8F8F7"/>
          </a:solidFill>
          <a:ln/>
        </p:spPr>
      </p:sp>
      <p:sp>
        <p:nvSpPr>
          <p:cNvPr id="6" name="Text 3"/>
          <p:cNvSpPr/>
          <p:nvPr/>
        </p:nvSpPr>
        <p:spPr>
          <a:xfrm>
            <a:off x="5623560" y="89611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93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Visualizations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417320"/>
            <a:ext cx="228600" cy="228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0" y="1371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810512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43600" y="176479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2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560" y="2203704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43600" y="215798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</a:t>
            </a:r>
            <a:endParaRPr lang="en-US" sz="12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2596896"/>
            <a:ext cx="228600" cy="2286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943600" y="2551176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Curve</a:t>
            </a:r>
            <a:endParaRPr lang="en-US" sz="12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2990088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5943600" y="294436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Distribution</a:t>
            </a:r>
            <a:endParaRPr lang="en-US" sz="1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3383280"/>
            <a:ext cx="228600" cy="22860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5943600" y="3337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Plot</a:t>
            </a:r>
            <a:endParaRPr lang="en-US" sz="1200" dirty="0"/>
          </a:p>
        </p:txBody>
      </p:sp>
      <p:sp>
        <p:nvSpPr>
          <p:cNvPr id="19" name="Shape 10"/>
          <p:cNvSpPr/>
          <p:nvPr/>
        </p:nvSpPr>
        <p:spPr>
          <a:xfrm>
            <a:off x="274320" y="4069080"/>
            <a:ext cx="4206240" cy="8229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20" name="Text 11"/>
          <p:cNvSpPr/>
          <p:nvPr/>
        </p:nvSpPr>
        <p:spPr>
          <a:xfrm>
            <a:off x="320040" y="4096512"/>
            <a:ext cx="1417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Threshold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100" dirty="0"/>
          </a:p>
        </p:txBody>
      </p:sp>
      <p:sp>
        <p:nvSpPr>
          <p:cNvPr id="21" name="Text 12"/>
          <p:cNvSpPr/>
          <p:nvPr/>
        </p:nvSpPr>
        <p:spPr>
          <a:xfrm>
            <a:off x="1783080" y="4114800"/>
            <a:ext cx="2560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threshold via PR curve for higher sensitivity</a:t>
            </a:r>
            <a:endParaRPr lang="en-US" sz="1100" dirty="0"/>
          </a:p>
        </p:txBody>
      </p:sp>
      <p:sp>
        <p:nvSpPr>
          <p:cNvPr id="22" name="Shape 13"/>
          <p:cNvSpPr/>
          <p:nvPr/>
        </p:nvSpPr>
        <p:spPr>
          <a:xfrm>
            <a:off x="4754880" y="4069080"/>
            <a:ext cx="4206240" cy="822960"/>
          </a:xfrm>
          <a:prstGeom prst="roundRect">
            <a:avLst>
              <a:gd name="adj" fmla="val 10000"/>
            </a:avLst>
          </a:prstGeom>
          <a:solidFill>
            <a:srgbClr val="028090"/>
          </a:solidFill>
          <a:ln/>
        </p:spPr>
      </p:sp>
      <p:sp>
        <p:nvSpPr>
          <p:cNvPr id="23" name="Text 14"/>
          <p:cNvSpPr/>
          <p:nvPr/>
        </p:nvSpPr>
        <p:spPr>
          <a:xfrm>
            <a:off x="4800600" y="4096512"/>
            <a:ext cx="1417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</a:t>
            </a:r>
            <a:endParaRPr lang="en-US" sz="1100" dirty="0"/>
          </a:p>
        </p:txBody>
      </p:sp>
      <p:sp>
        <p:nvSpPr>
          <p:cNvPr id="24" name="Text 15"/>
          <p:cNvSpPr/>
          <p:nvPr/>
        </p:nvSpPr>
        <p:spPr>
          <a:xfrm>
            <a:off x="6263640" y="4114800"/>
            <a:ext cx="256032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reliable confidence scores for clinical use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Used &amp; Skills Demonstrated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8F8F7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01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Analysis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89888"/>
            <a:ext cx="224028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8988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773936"/>
            <a:ext cx="224028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73936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54680" y="8686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8F8F7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9601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1389888"/>
            <a:ext cx="224028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38988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1773936"/>
            <a:ext cx="224028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773936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89320" y="86868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8F8F7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9601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389888"/>
            <a:ext cx="224028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38988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773936"/>
            <a:ext cx="224028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126480" y="1773936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157984"/>
            <a:ext cx="224028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215798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Imbalanced-learn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5603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8F8F7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26517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081528"/>
            <a:ext cx="224028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08152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465576"/>
            <a:ext cx="224028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465576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54680" y="2560320"/>
            <a:ext cx="2606040" cy="1463040"/>
          </a:xfrm>
          <a:prstGeom prst="roundRect">
            <a:avLst>
              <a:gd name="adj" fmla="val 6250"/>
            </a:avLst>
          </a:prstGeom>
          <a:solidFill>
            <a:srgbClr val="E8F8F7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91840" y="26517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91840" y="3081528"/>
            <a:ext cx="224028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291840" y="3081528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91840" y="3465576"/>
            <a:ext cx="224028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3291840" y="3465576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Pickle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91840" y="3849624"/>
            <a:ext cx="2240280" cy="292608"/>
          </a:xfrm>
          <a:prstGeom prst="roundRect">
            <a:avLst>
              <a:gd name="adj" fmla="val 15625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3291840" y="3849624"/>
            <a:ext cx="2240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20040" y="4251960"/>
            <a:ext cx="8503920" cy="640080"/>
          </a:xfrm>
          <a:prstGeom prst="roundRect">
            <a:avLst>
              <a:gd name="adj" fmla="val 11429"/>
            </a:avLst>
          </a:prstGeom>
          <a:solidFill>
            <a:srgbClr val="0A1931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Skills: EDA  •  Feature Engineering  •  Ensemble Learning  •  SMOTE  •  Threshold Optimization  •  Calibration  •  Deployment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9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1931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731520"/>
            <a:ext cx="1645920" cy="1645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35040" y="256032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Outcomes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063240"/>
            <a:ext cx="219456" cy="219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46520" y="30175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ML pipeline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3447288"/>
            <a:ext cx="219456" cy="219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46520" y="340156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for class balance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3831336"/>
            <a:ext cx="219456" cy="219456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446520" y="3785616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stacking model</a:t>
            </a:r>
            <a:endParaRPr lang="en-US" sz="11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0" y="4215384"/>
            <a:ext cx="219456" cy="219456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446520" y="4169664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&amp; probability tuning</a:t>
            </a:r>
            <a:endParaRPr lang="en-US" sz="11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0" y="4599432"/>
            <a:ext cx="219456" cy="219456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446520" y="455371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E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deployment ready</a:t>
            </a:r>
            <a:endParaRPr lang="en-US" sz="1100" dirty="0"/>
          </a:p>
        </p:txBody>
      </p:sp>
      <p:sp>
        <p:nvSpPr>
          <p:cNvPr id="16" name="Text 8"/>
          <p:cNvSpPr/>
          <p:nvPr/>
        </p:nvSpPr>
        <p:spPr>
          <a:xfrm>
            <a:off x="457200" y="365760"/>
            <a:ext cx="5212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17" name="Shape 9"/>
          <p:cNvSpPr/>
          <p:nvPr/>
        </p:nvSpPr>
        <p:spPr>
          <a:xfrm>
            <a:off x="457200" y="987552"/>
            <a:ext cx="5029200" cy="2743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0"/>
          <p:cNvSpPr/>
          <p:nvPr/>
        </p:nvSpPr>
        <p:spPr>
          <a:xfrm>
            <a:off x="457200" y="114300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advanced machine learning techniques can support early screening of Autism Spectrum Disorder.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robust preprocessing, SMOTE, ensemble stacking, hyperparameter tuning, calibration, and Streamlit deployment — the pipeline delivers a practical and scalable prediction system.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not a replacement for professional diagnosis, it serves as a valuable clinical decision-support tool.</a:t>
            </a:r>
            <a:endParaRPr lang="en-US" sz="1250" dirty="0"/>
          </a:p>
        </p:txBody>
      </p:sp>
      <p:sp>
        <p:nvSpPr>
          <p:cNvPr id="19" name="Shape 11"/>
          <p:cNvSpPr/>
          <p:nvPr/>
        </p:nvSpPr>
        <p:spPr>
          <a:xfrm>
            <a:off x="457200" y="4389120"/>
            <a:ext cx="5212080" cy="502920"/>
          </a:xfrm>
          <a:prstGeom prst="roundRect">
            <a:avLst>
              <a:gd name="adj" fmla="val 12727"/>
            </a:avLst>
          </a:prstGeom>
          <a:solidFill>
            <a:srgbClr val="02C39A">
              <a:alpha val="80000"/>
            </a:srgbClr>
          </a:solidFill>
          <a:ln/>
        </p:spPr>
      </p:sp>
      <p:sp>
        <p:nvSpPr>
          <p:cNvPr id="20" name="Text 12"/>
          <p:cNvSpPr/>
          <p:nvPr/>
        </p:nvSpPr>
        <p:spPr>
          <a:xfrm>
            <a:off x="457200" y="43891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screening for better early intervention outcomes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Autism Spectrum Disorder Prediction Using Machine Learning</dc:title>
  <dc:subject>PptxGenJS Presentation</dc:subject>
  <dc:creator>PptxGenJS</dc:creator>
  <cp:lastModifiedBy>PptxGenJS</cp:lastModifiedBy>
  <cp:revision>1</cp:revision>
  <dcterms:created xsi:type="dcterms:W3CDTF">2026-06-29T06:28:57Z</dcterms:created>
  <dcterms:modified xsi:type="dcterms:W3CDTF">2026-06-29T06:28:57Z</dcterms:modified>
</cp:coreProperties>
</file>